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5143500" cy="9144000"/>
  <p:embeddedFontLst>
    <p:embeddedFont>
      <p:font typeface="Inter"/>
      <p:regular r:id="rId12"/>
      <p:bold r:id="rId13"/>
      <p:italic r:id="rId14"/>
      <p:boldItalic r:id="rId15"/>
    </p:embeddedFont>
    <p:embeddedFont>
      <p:font typeface="Crimson Text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9E1535-0022-471C-8BEA-5039455FB44C}">
  <a:tblStyle styleId="{E89E1535-0022-471C-8BEA-5039455FB44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Inter-regular.fntdata"/><Relationship Id="rId13" Type="http://schemas.openxmlformats.org/officeDocument/2006/relationships/font" Target="fonts/Inter-bold.fntdata"/><Relationship Id="rId14" Type="http://schemas.openxmlformats.org/officeDocument/2006/relationships/font" Target="fonts/Inter-italic.fntdata"/><Relationship Id="rId15" Type="http://schemas.openxmlformats.org/officeDocument/2006/relationships/font" Target="fonts/Inter-boldItalic.fntdata"/><Relationship Id="rId16" Type="http://schemas.openxmlformats.org/officeDocument/2006/relationships/font" Target="fonts/CrimsonText-bold.fntdata"/><Relationship Id="rId17" Type="http://schemas.openxmlformats.org/officeDocument/2006/relationships/font" Target="fonts/CrimsonTex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11.png"/><Relationship Id="rId5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1143000" y="146304"/>
            <a:ext cx="608076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0">
                <a:solidFill>
                  <a:srgbClr val="264E80"/>
                </a:solidFill>
                <a:latin typeface="Georgia"/>
              </a:rPr>
              <a:t>SMART INDIA HACKATHON 2026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6576"/>
            <a:ext cx="1664208" cy="768096"/>
          </a:xfrm>
          <a:prstGeom prst="rect">
            <a:avLst/>
          </a:prstGeom>
        </p:spPr>
      </p:pic>
      <p:pic>
        <p:nvPicPr>
          <p:cNvPr id="22" name="Picture 21" descr="sih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841248"/>
            <a:ext cx="3154680" cy="33375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200400" y="914400"/>
            <a:ext cx="260604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Georgia"/>
              </a:rPr>
              <a:t>TITLE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" y="1965960"/>
            <a:ext cx="64008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50505"/>
                </a:solidFill>
                <a:latin typeface="Arial"/>
              </a:rPr>
              <a:t>•  Problem Statement ID – 26151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" y="2487168"/>
            <a:ext cx="64008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050505"/>
                </a:solidFill>
                <a:latin typeface="Arial"/>
              </a:rPr>
              <a:t>•  Problem Statement Title- INTELTRACE — Dark Web Threat Actor De-Anonymization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" y="3008376"/>
            <a:ext cx="64008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50505"/>
                </a:solidFill>
                <a:latin typeface="Arial"/>
              </a:rPr>
              <a:t>•  Theme- Blockchain &amp; Cybersecurity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" y="3529584"/>
            <a:ext cx="64008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50505"/>
                </a:solidFill>
                <a:latin typeface="Arial"/>
              </a:rPr>
              <a:t>•  PS Category- Software/Hardware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" y="4050791"/>
            <a:ext cx="64008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50505"/>
                </a:solidFill>
                <a:latin typeface="Arial"/>
              </a:rPr>
              <a:t>•  Team ID-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" y="4572000"/>
            <a:ext cx="64008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50505"/>
                </a:solidFill>
                <a:latin typeface="Arial"/>
              </a:rPr>
              <a:t>•  Team Name (Registered on portal) RUN TIME ERRORS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1600200" y="429220"/>
            <a:ext cx="5806440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rimson Text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Proposed Solution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96119" y="1064791"/>
            <a:ext cx="8151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consent-aware intelligence pipeline that turns scattered online footprints into </a:t>
            </a:r>
            <a:r>
              <a:rPr b="1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explainable linkage leads</a:t>
            </a: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correlating identifiers, behaviour, and stylometry into scored, analyst-reviewable attribution chains.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601242"/>
            <a:ext cx="2717229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620092" y="2221334"/>
            <a:ext cx="246928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rimson Text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Collect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20092" y="2489597"/>
            <a:ext cx="2469282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Authorized observations, identifiers &amp; source metadata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348" y="1601242"/>
            <a:ext cx="2717229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3337322" y="2221334"/>
            <a:ext cx="246928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rimson Text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Correlate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337322" y="2489597"/>
            <a:ext cx="2469282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PGP / wallet / email + behaviour + stylometry signals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0578" y="1601242"/>
            <a:ext cx="2717229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6054551" y="2221334"/>
            <a:ext cx="2469282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rimson Text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Attribute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054551" y="2489597"/>
            <a:ext cx="2469282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Scored links with confidence levels &amp; analyst review queue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06822" y="3150022"/>
            <a:ext cx="4103191" cy="1564258"/>
          </a:xfrm>
          <a:prstGeom prst="roundRect">
            <a:avLst>
              <a:gd fmla="val 5710" name="adj"/>
            </a:avLst>
          </a:prstGeom>
          <a:solidFill>
            <a:srgbClr val="8C9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530796" y="3273996"/>
            <a:ext cx="3855244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rimson Text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What Makes It Stand 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30796" y="3591818"/>
            <a:ext cx="3855244" cy="1079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Char char="•"/>
            </a:pP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Explainable weights with reason codes on every linkage decision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Char char="•"/>
            </a:pP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Human-in-the-loop review — no silent overwrites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Char char="•"/>
            </a:pP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Multiple output formats: Dashboard, Network graph, CSV/JSON, PDF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728046" y="3273996"/>
            <a:ext cx="392459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rimson Text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Design Principles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728046" y="3591818"/>
            <a:ext cx="3924598" cy="9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Char char="•"/>
            </a:pP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Probabilistic leads, not proof — responsible by design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Char char="•"/>
            </a:pP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Legal-basis gate enforced before any collection step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Char char="•"/>
            </a:pP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Modular pipeline allows incremental capability addition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Char char="•"/>
            </a:pP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4-level confidence scoring for analyst prioritization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73152"/>
            <a:ext cx="1572768" cy="731520"/>
          </a:xfrm>
          <a:prstGeom prst="rect">
            <a:avLst/>
          </a:prstGeom>
        </p:spPr>
      </p:pic>
      <p:sp>
        <p:nvSpPr>
          <p:cNvPr id="57" name="Oval 56"/>
          <p:cNvSpPr/>
          <p:nvPr/>
        </p:nvSpPr>
        <p:spPr>
          <a:xfrm>
            <a:off x="274320" y="109728"/>
            <a:ext cx="1115568" cy="566928"/>
          </a:xfrm>
          <a:prstGeom prst="ellipse">
            <a:avLst/>
          </a:prstGeom>
          <a:noFill/>
          <a:ln w="22860">
            <a:solidFill>
              <a:srgbClr val="89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RUNTIME ERRORS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4750308"/>
            <a:ext cx="9144000" cy="393192"/>
          </a:xfrm>
          <a:prstGeom prst="rect">
            <a:avLst/>
          </a:prstGeom>
          <a:solidFill>
            <a:srgbClr val="0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13648" y="4814316"/>
            <a:ext cx="2286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1600200" y="389632"/>
            <a:ext cx="5806440" cy="290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rimson Text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Technical Approach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863426"/>
            <a:ext cx="4381277" cy="4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6"/>
          <p:cNvSpPr/>
          <p:nvPr/>
        </p:nvSpPr>
        <p:spPr>
          <a:xfrm>
            <a:off x="5109121" y="863426"/>
            <a:ext cx="186035" cy="116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rimson Text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01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5109121" y="1011957"/>
            <a:ext cx="3543449" cy="9525"/>
          </a:xfrm>
          <a:prstGeom prst="rect">
            <a:avLst/>
          </a:prstGeom>
          <a:solidFill>
            <a:srgbClr val="EA88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5109121" y="1077516"/>
            <a:ext cx="3543449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rimson Text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Source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109121" y="1292572"/>
            <a:ext cx="3543449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Authorized feeds only — legal-basis gate enforced at ingestion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109121" y="1562249"/>
            <a:ext cx="186035" cy="116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rimson Text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109121" y="1710779"/>
            <a:ext cx="3543449" cy="9525"/>
          </a:xfrm>
          <a:prstGeom prst="rect">
            <a:avLst/>
          </a:prstGeom>
          <a:solidFill>
            <a:srgbClr val="EA88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5109121" y="1776338"/>
            <a:ext cx="3543449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rimson Text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Extract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109121" y="1991395"/>
            <a:ext cx="3543449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PGP fingerprints • crypto wallet addresses • email • XMPP handles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5109121" y="2261071"/>
            <a:ext cx="186035" cy="116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rimson Text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03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5109121" y="2409602"/>
            <a:ext cx="3543449" cy="9525"/>
          </a:xfrm>
          <a:prstGeom prst="rect">
            <a:avLst/>
          </a:prstGeom>
          <a:solidFill>
            <a:srgbClr val="EA88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5109121" y="2475161"/>
            <a:ext cx="3543449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rimson Text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Normalize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109121" y="2690217"/>
            <a:ext cx="3543449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Canonical identifier resolution across heterogeneous sources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109121" y="2959894"/>
            <a:ext cx="186035" cy="116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rimson Text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04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109121" y="3108424"/>
            <a:ext cx="3543449" cy="9525"/>
          </a:xfrm>
          <a:prstGeom prst="rect">
            <a:avLst/>
          </a:prstGeom>
          <a:solidFill>
            <a:srgbClr val="EA88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5109121" y="3173983"/>
            <a:ext cx="3543449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rimson Text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Analyze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109121" y="3389040"/>
            <a:ext cx="3543449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Stylometry models + temporal &amp; behavioural pattern analysis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109121" y="3658716"/>
            <a:ext cx="186035" cy="116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rimson Text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109121" y="3807247"/>
            <a:ext cx="3543449" cy="9525"/>
          </a:xfrm>
          <a:prstGeom prst="rect">
            <a:avLst/>
          </a:prstGeom>
          <a:solidFill>
            <a:srgbClr val="EA88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5109121" y="3872805"/>
            <a:ext cx="3543449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rimson Text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Resolve → Graph → Report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109121" y="4087862"/>
            <a:ext cx="3543449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Link scoring • entity–relationship graph • Dashboard + exports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96119" y="4444678"/>
            <a:ext cx="8151763" cy="309116"/>
          </a:xfrm>
          <a:prstGeom prst="roundRect">
            <a:avLst>
              <a:gd fmla="val 12641" name="adj"/>
            </a:avLst>
          </a:prstGeom>
          <a:solidFill>
            <a:srgbClr val="FAE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36" y="4546699"/>
            <a:ext cx="116235" cy="9301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798388" y="4537621"/>
            <a:ext cx="8213675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Stack:</a:t>
            </a:r>
            <a:r>
              <a:rPr b="0" i="0" lang="en-U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Python • Streamlit • SQLAlchemy • NetworkX • Pandas • ReportLab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Picture 85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73152"/>
            <a:ext cx="1572768" cy="731520"/>
          </a:xfrm>
          <a:prstGeom prst="rect">
            <a:avLst/>
          </a:prstGeom>
        </p:spPr>
      </p:pic>
      <p:sp>
        <p:nvSpPr>
          <p:cNvPr id="87" name="Oval 86"/>
          <p:cNvSpPr/>
          <p:nvPr/>
        </p:nvSpPr>
        <p:spPr>
          <a:xfrm>
            <a:off x="274320" y="109728"/>
            <a:ext cx="1115568" cy="566928"/>
          </a:xfrm>
          <a:prstGeom prst="ellipse">
            <a:avLst/>
          </a:prstGeom>
          <a:noFill/>
          <a:ln w="22860">
            <a:solidFill>
              <a:srgbClr val="89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RUNTIME ERRORS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4750308"/>
            <a:ext cx="9144000" cy="393192"/>
          </a:xfrm>
          <a:prstGeom prst="rect">
            <a:avLst/>
          </a:prstGeom>
          <a:solidFill>
            <a:srgbClr val="0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13648" y="4814316"/>
            <a:ext cx="2286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/>
          <p:nvPr/>
        </p:nvSpPr>
        <p:spPr>
          <a:xfrm>
            <a:off x="1600200" y="366861"/>
            <a:ext cx="5806440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Crimson Text"/>
              <a:buNone/>
            </a:pPr>
            <a:r>
              <a:rPr b="1" i="0" lang="en-US" sz="215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Why It Works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96119" y="908893"/>
            <a:ext cx="8151763" cy="334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INTELTRACE is built on four architectural pillars that distinguish it from ad-hoc OSINT tooling — combining rigor, safety, and operational utility in a single pipeline.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353815"/>
            <a:ext cx="4026694" cy="98248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/>
          <p:nvPr/>
        </p:nvSpPr>
        <p:spPr>
          <a:xfrm>
            <a:off x="677987" y="1478533"/>
            <a:ext cx="3720108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rimson Text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Explainable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77987" y="1710184"/>
            <a:ext cx="3720108" cy="501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Every linkage decision carries human-readable </a:t>
            </a:r>
            <a:r>
              <a:rPr b="1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reason codes</a:t>
            </a: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analysts understand exactly which signals drove a connection, enabling defensible reporting and courtroom-ready documentation.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1188" y="1353815"/>
            <a:ext cx="4026694" cy="98248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7"/>
          <p:cNvSpPr/>
          <p:nvPr/>
        </p:nvSpPr>
        <p:spPr>
          <a:xfrm>
            <a:off x="4803056" y="1478533"/>
            <a:ext cx="3720108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rimson Text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Human-in-the-Loop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803056" y="1710184"/>
            <a:ext cx="3720108" cy="501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Analyst review is a mandatory gate before any attribution is finalized. No automated overwrites. Every confidence update is logged with the reviewer identity and timestamp.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434679"/>
            <a:ext cx="4026694" cy="9824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/>
          <p:nvPr/>
        </p:nvSpPr>
        <p:spPr>
          <a:xfrm>
            <a:off x="677987" y="2559397"/>
            <a:ext cx="3720108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rimson Text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Safe &amp; Auditable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77987" y="2791048"/>
            <a:ext cx="3720108" cy="501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Demo mode for safe testing • legal-basis gate before collection • </a:t>
            </a:r>
            <a:r>
              <a:rPr b="1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4-level confidence scoring</a:t>
            </a: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(Confirmed / Probable / Possible / Speculative) • full immutable audit logs.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1188" y="2434679"/>
            <a:ext cx="4026694" cy="98248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/>
          <p:nvPr/>
        </p:nvSpPr>
        <p:spPr>
          <a:xfrm>
            <a:off x="4803056" y="2559397"/>
            <a:ext cx="3720108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rimson Text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Scalable &amp; Modular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803056" y="2791048"/>
            <a:ext cx="3720108" cy="501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Plugin-style module architecture allows new extractors to be added without touching core logic. Blocking and canopy steps enable scale-up to large entity sets without quadratic comparison cost.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96119" y="3527822"/>
            <a:ext cx="8151763" cy="1248817"/>
          </a:xfrm>
          <a:prstGeom prst="roundRect">
            <a:avLst>
              <a:gd fmla="val 3716" name="adj"/>
            </a:avLst>
          </a:prstGeom>
          <a:solidFill>
            <a:srgbClr val="FAE5D1"/>
          </a:solidFill>
          <a:ln cap="flat" cmpd="sng" w="9525">
            <a:solidFill>
              <a:srgbClr val="E0CB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500881" y="3532584"/>
            <a:ext cx="2714030" cy="619646"/>
          </a:xfrm>
          <a:custGeom>
            <a:rect b="b" l="l" r="r" t="t"/>
            <a:pathLst>
              <a:path extrusionOk="0" h="619646" w="2714030">
                <a:moveTo>
                  <a:pt x="38668" y="0"/>
                </a:moveTo>
                <a:lnTo>
                  <a:pt x="2714030" y="0"/>
                </a:lnTo>
                <a:lnTo>
                  <a:pt x="2714030" y="619646"/>
                </a:lnTo>
                <a:lnTo>
                  <a:pt x="0" y="619646"/>
                </a:lnTo>
                <a:lnTo>
                  <a:pt x="0" y="38668"/>
                </a:lnTo>
                <a:cubicBezTo>
                  <a:pt x="0" y="17312"/>
                  <a:pt x="17312" y="0"/>
                  <a:pt x="38668" y="0"/>
                </a:cubicBezTo>
                <a:close/>
              </a:path>
            </a:pathLst>
          </a:custGeom>
          <a:solidFill>
            <a:srgbClr val="FAE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611312" y="3643015"/>
            <a:ext cx="2493169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rimson Text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11312" y="3874666"/>
            <a:ext cx="2493169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Interactive Streamlit UI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3214911" y="3532584"/>
            <a:ext cx="2714104" cy="619646"/>
          </a:xfrm>
          <a:prstGeom prst="rect">
            <a:avLst/>
          </a:prstGeom>
          <a:solidFill>
            <a:srgbClr val="FAE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3214911" y="3532584"/>
            <a:ext cx="14288" cy="619646"/>
          </a:xfrm>
          <a:prstGeom prst="roundRect">
            <a:avLst>
              <a:gd fmla="val 49998" name="adj"/>
            </a:avLst>
          </a:prstGeom>
          <a:solidFill>
            <a:srgbClr val="E0C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3325341" y="3643015"/>
            <a:ext cx="2493243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rimson Text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Network Graph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325341" y="3874666"/>
            <a:ext cx="2493243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Visual entity–relationship map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929015" y="3532584"/>
            <a:ext cx="2714104" cy="619646"/>
          </a:xfrm>
          <a:custGeom>
            <a:rect b="b" l="l" r="r" t="t"/>
            <a:pathLst>
              <a:path extrusionOk="0" h="619646" w="2714104">
                <a:moveTo>
                  <a:pt x="0" y="0"/>
                </a:moveTo>
                <a:lnTo>
                  <a:pt x="2675436" y="0"/>
                </a:lnTo>
                <a:cubicBezTo>
                  <a:pt x="2685691" y="0"/>
                  <a:pt x="2695527" y="4074"/>
                  <a:pt x="2702778" y="11326"/>
                </a:cubicBezTo>
                <a:cubicBezTo>
                  <a:pt x="2710030" y="18577"/>
                  <a:pt x="2714104" y="28413"/>
                  <a:pt x="2714104" y="38668"/>
                </a:cubicBezTo>
                <a:lnTo>
                  <a:pt x="2714104" y="619646"/>
                </a:lnTo>
                <a:lnTo>
                  <a:pt x="0" y="619646"/>
                </a:lnTo>
                <a:lnTo>
                  <a:pt x="0" y="0"/>
                </a:lnTo>
                <a:close/>
              </a:path>
            </a:pathLst>
          </a:custGeom>
          <a:solidFill>
            <a:srgbClr val="FAE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5929015" y="3532584"/>
            <a:ext cx="14288" cy="619646"/>
          </a:xfrm>
          <a:prstGeom prst="roundRect">
            <a:avLst>
              <a:gd fmla="val 49998" name="adj"/>
            </a:avLst>
          </a:prstGeom>
          <a:solidFill>
            <a:srgbClr val="E0C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039445" y="3643015"/>
            <a:ext cx="2493243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rimson Text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CSV / JSON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039445" y="3874666"/>
            <a:ext cx="2493243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Machine-readable exports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00881" y="4152230"/>
            <a:ext cx="4071119" cy="619646"/>
          </a:xfrm>
          <a:custGeom>
            <a:rect b="b" l="l" r="r" t="t"/>
            <a:pathLst>
              <a:path extrusionOk="0" h="619646" w="4071119">
                <a:moveTo>
                  <a:pt x="0" y="0"/>
                </a:moveTo>
                <a:lnTo>
                  <a:pt x="4071119" y="0"/>
                </a:lnTo>
                <a:lnTo>
                  <a:pt x="4071119" y="619646"/>
                </a:lnTo>
                <a:lnTo>
                  <a:pt x="38668" y="619646"/>
                </a:lnTo>
                <a:cubicBezTo>
                  <a:pt x="17312" y="619646"/>
                  <a:pt x="0" y="602334"/>
                  <a:pt x="0" y="580978"/>
                </a:cubicBezTo>
                <a:lnTo>
                  <a:pt x="0" y="0"/>
                </a:lnTo>
                <a:close/>
              </a:path>
            </a:pathLst>
          </a:custGeom>
          <a:solidFill>
            <a:srgbClr val="FAE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00881" y="4152230"/>
            <a:ext cx="4071119" cy="14288"/>
          </a:xfrm>
          <a:prstGeom prst="roundRect">
            <a:avLst>
              <a:gd fmla="val 49998" name="adj"/>
            </a:avLst>
          </a:prstGeom>
          <a:solidFill>
            <a:srgbClr val="E0C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11312" y="4262661"/>
            <a:ext cx="3850258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rimson Text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PDF Report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11312" y="4494312"/>
            <a:ext cx="385025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Formatted analyst summary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0" y="4152230"/>
            <a:ext cx="4071119" cy="619646"/>
          </a:xfrm>
          <a:custGeom>
            <a:rect b="b" l="l" r="r" t="t"/>
            <a:pathLst>
              <a:path extrusionOk="0" h="619646" w="4071119">
                <a:moveTo>
                  <a:pt x="0" y="0"/>
                </a:moveTo>
                <a:lnTo>
                  <a:pt x="4071119" y="0"/>
                </a:lnTo>
                <a:lnTo>
                  <a:pt x="4071119" y="580978"/>
                </a:lnTo>
                <a:cubicBezTo>
                  <a:pt x="4071119" y="602334"/>
                  <a:pt x="4053807" y="619646"/>
                  <a:pt x="4032451" y="619646"/>
                </a:cubicBezTo>
                <a:lnTo>
                  <a:pt x="0" y="619646"/>
                </a:lnTo>
                <a:lnTo>
                  <a:pt x="0" y="0"/>
                </a:lnTo>
                <a:close/>
              </a:path>
            </a:pathLst>
          </a:custGeom>
          <a:solidFill>
            <a:srgbClr val="FAE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572000" y="4152230"/>
            <a:ext cx="14288" cy="619646"/>
          </a:xfrm>
          <a:prstGeom prst="roundRect">
            <a:avLst>
              <a:gd fmla="val 49998" name="adj"/>
            </a:avLst>
          </a:prstGeom>
          <a:solidFill>
            <a:srgbClr val="E0C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572000" y="4152230"/>
            <a:ext cx="4071119" cy="14288"/>
          </a:xfrm>
          <a:prstGeom prst="roundRect">
            <a:avLst>
              <a:gd fmla="val 49998" name="adj"/>
            </a:avLst>
          </a:prstGeom>
          <a:solidFill>
            <a:srgbClr val="E0C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682430" y="4262661"/>
            <a:ext cx="3850258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rimson Text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STIX Export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682430" y="4494312"/>
            <a:ext cx="385025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Threat intel sharing format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Picture 12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73152"/>
            <a:ext cx="1572768" cy="731520"/>
          </a:xfrm>
          <a:prstGeom prst="rect">
            <a:avLst/>
          </a:prstGeom>
        </p:spPr>
      </p:pic>
      <p:sp>
        <p:nvSpPr>
          <p:cNvPr id="127" name="Oval 126"/>
          <p:cNvSpPr/>
          <p:nvPr/>
        </p:nvSpPr>
        <p:spPr>
          <a:xfrm>
            <a:off x="274320" y="109728"/>
            <a:ext cx="1115568" cy="566928"/>
          </a:xfrm>
          <a:prstGeom prst="ellipse">
            <a:avLst/>
          </a:prstGeom>
          <a:noFill/>
          <a:ln w="22860">
            <a:solidFill>
              <a:srgbClr val="89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RUNTIME ERRORS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0" y="4750308"/>
            <a:ext cx="9144000" cy="393192"/>
          </a:xfrm>
          <a:prstGeom prst="rect">
            <a:avLst/>
          </a:prstGeom>
          <a:solidFill>
            <a:srgbClr val="0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613648" y="4814316"/>
            <a:ext cx="2286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Oval 130"/>
          <p:cNvSpPr/>
          <p:nvPr/>
        </p:nvSpPr>
        <p:spPr>
          <a:xfrm>
            <a:off x="164592" y="146304"/>
            <a:ext cx="1115568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17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46888" y="210312"/>
            <a:ext cx="950976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2D2D"/>
                </a:solidFill>
                <a:latin typeface="Georgia"/>
              </a:rPr>
              <a:t>RUNTIME
ERRORS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508760" y="283464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Georgia"/>
              </a:rPr>
              <a:t>Impact &amp; Feasibility</a:t>
            </a:r>
          </a:p>
        </p:txBody>
      </p:sp>
      <p:pic>
        <p:nvPicPr>
          <p:cNvPr id="134" name="Picture 13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91440"/>
            <a:ext cx="1627632" cy="676656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512064" y="795528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Georgia"/>
              </a:rPr>
              <a:t>Demo Metrics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64992" y="795528"/>
            <a:ext cx="2423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Georgia"/>
              </a:rPr>
              <a:t>Operational Benefits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46520" y="795528"/>
            <a:ext cx="2286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Georgia"/>
              </a:rPr>
              <a:t>Roadmap &amp; Phases</a:t>
            </a:r>
          </a:p>
        </p:txBody>
      </p:sp>
      <p:pic>
        <p:nvPicPr>
          <p:cNvPr id="138" name="Picture 13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1014984"/>
            <a:ext cx="2487168" cy="1399032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512064" y="2542032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77E1C"/>
                </a:solidFill>
                <a:latin typeface="Georgia"/>
              </a:rPr>
              <a:t>12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68096" y="2587751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000000"/>
                </a:solidFill>
                <a:latin typeface="Arial"/>
              </a:rPr>
              <a:t>Tracked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68096" y="2743200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000000"/>
                </a:solidFill>
                <a:latin typeface="Arial"/>
              </a:rPr>
              <a:t>Entities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12064" y="2926079"/>
            <a:ext cx="12070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4B4B4B"/>
                </a:solidFill>
                <a:latin typeface="Arial"/>
              </a:rPr>
              <a:t>Actors in demo
dataset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74519" y="2542032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77E1C"/>
                </a:solidFill>
                <a:latin typeface="Georgia"/>
              </a:rPr>
              <a:t>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130552" y="2587751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000000"/>
                </a:solidFill>
                <a:latin typeface="Arial"/>
              </a:rPr>
              <a:t>Relationship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130552" y="2743200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000000"/>
                </a:solidFill>
                <a:latin typeface="Arial"/>
              </a:rPr>
              <a:t>Links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874519" y="2926079"/>
            <a:ext cx="12070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4B4B4B"/>
                </a:solidFill>
                <a:latin typeface="Arial"/>
              </a:rPr>
              <a:t>Cross-platform
identities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12064" y="3364992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77E1C"/>
                </a:solidFill>
                <a:latin typeface="Georgia"/>
              </a:rPr>
              <a:t>10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68096" y="3410712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000000"/>
                </a:solidFill>
                <a:latin typeface="Arial"/>
              </a:rPr>
              <a:t>Observations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12064" y="3749040"/>
            <a:ext cx="12070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4B4B4B"/>
                </a:solidFill>
                <a:latin typeface="Arial"/>
              </a:rPr>
              <a:t>Ingested
data points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874519" y="3364992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77E1C"/>
                </a:solidFill>
                <a:latin typeface="Georgia"/>
              </a:rPr>
              <a:t>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130552" y="3410712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000000"/>
                </a:solidFill>
                <a:latin typeface="Arial"/>
              </a:rPr>
              <a:t>Confidence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130552" y="3566160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000000"/>
                </a:solidFill>
                <a:latin typeface="Arial"/>
              </a:rPr>
              <a:t>Levels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874519" y="3749040"/>
            <a:ext cx="12070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4B4B4B"/>
                </a:solidFill>
                <a:latin typeface="Arial"/>
              </a:rPr>
              <a:t>Confirmed to
Speculative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364992" y="1179576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77E1C"/>
                </a:solidFill>
                <a:latin typeface="Arial"/>
              </a:rPr>
              <a:t>→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529584" y="1179576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000000"/>
                </a:solidFill>
                <a:latin typeface="Georgia"/>
              </a:rPr>
              <a:t>Faster Triage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529584" y="1408176"/>
            <a:ext cx="257860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B4B4B"/>
                </a:solidFill>
                <a:latin typeface="Arial"/>
              </a:rPr>
              <a:t>Scored leads surface high-confidence links first,
reducing analyst workload.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364992" y="2057400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77E1C"/>
                </a:solidFill>
                <a:latin typeface="Arial"/>
              </a:rPr>
              <a:t>→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529584" y="2057400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000000"/>
                </a:solidFill>
                <a:latin typeface="Georgia"/>
              </a:rPr>
              <a:t>Persona Migration Detection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529584" y="2286000"/>
            <a:ext cx="257860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B4B4B"/>
                </a:solidFill>
                <a:latin typeface="Arial"/>
              </a:rPr>
              <a:t>Tracks when threat actors rebrand across platforms
using behavioural continuity signals.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364992" y="3108960"/>
            <a:ext cx="1645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77E1C"/>
                </a:solidFill>
                <a:latin typeface="Arial"/>
              </a:rPr>
              <a:t>→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529584" y="3108960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000000"/>
                </a:solidFill>
                <a:latin typeface="Georgia"/>
              </a:rPr>
              <a:t>Exportable Evidence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529584" y="3337560"/>
            <a:ext cx="257860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B4B4B"/>
                </a:solidFill>
                <a:latin typeface="Arial"/>
              </a:rPr>
              <a:t>Searchable timeline and STIX-compatible exports feed directly
into downstream SIEM/TIP systems.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6565392" y="1115568"/>
            <a:ext cx="0" cy="3072384"/>
          </a:xfrm>
          <a:prstGeom prst="line">
            <a:avLst/>
          </a:prstGeom>
          <a:ln w="19050">
            <a:solidFill>
              <a:srgbClr val="EBD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/>
          <p:cNvSpPr/>
          <p:nvPr/>
        </p:nvSpPr>
        <p:spPr>
          <a:xfrm>
            <a:off x="6501384" y="1243584"/>
            <a:ext cx="128016" cy="128016"/>
          </a:xfrm>
          <a:prstGeom prst="ellipse">
            <a:avLst/>
          </a:prstGeom>
          <a:solidFill>
            <a:srgbClr val="E7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729984" y="1225296"/>
            <a:ext cx="196596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000000"/>
                </a:solidFill>
                <a:latin typeface="Georgia"/>
              </a:rPr>
              <a:t>Phase 1 — Now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729984" y="1426464"/>
            <a:ext cx="2084831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90" b="0">
                <a:solidFill>
                  <a:srgbClr val="4B4B4B"/>
                </a:solidFill>
                <a:latin typeface="Arial"/>
              </a:rPr>
              <a:t>Synthetic demo with curated test data;
full pipeline validated end-to-end</a:t>
            </a:r>
          </a:p>
        </p:txBody>
      </p:sp>
      <p:sp>
        <p:nvSpPr>
          <p:cNvPr id="167" name="Oval 166"/>
          <p:cNvSpPr/>
          <p:nvPr/>
        </p:nvSpPr>
        <p:spPr>
          <a:xfrm>
            <a:off x="6501384" y="1975104"/>
            <a:ext cx="128016" cy="128016"/>
          </a:xfrm>
          <a:prstGeom prst="ellipse">
            <a:avLst/>
          </a:prstGeom>
          <a:solidFill>
            <a:srgbClr val="E7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729984" y="1956816"/>
            <a:ext cx="196596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000000"/>
                </a:solidFill>
                <a:latin typeface="Georgia"/>
              </a:rPr>
              <a:t>Phase 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729984" y="2157984"/>
            <a:ext cx="2084831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90" b="0">
                <a:solidFill>
                  <a:srgbClr val="4B4B4B"/>
                </a:solidFill>
                <a:latin typeface="Arial"/>
              </a:rPr>
              <a:t>Authorized collector integrations;
real-world identifier extraction at scale</a:t>
            </a:r>
          </a:p>
        </p:txBody>
      </p:sp>
      <p:sp>
        <p:nvSpPr>
          <p:cNvPr id="170" name="Oval 169"/>
          <p:cNvSpPr/>
          <p:nvPr/>
        </p:nvSpPr>
        <p:spPr>
          <a:xfrm>
            <a:off x="6501384" y="2706624"/>
            <a:ext cx="128016" cy="128016"/>
          </a:xfrm>
          <a:prstGeom prst="ellipse">
            <a:avLst/>
          </a:prstGeom>
          <a:solidFill>
            <a:srgbClr val="E7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729984" y="2688336"/>
            <a:ext cx="196596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000000"/>
                </a:solidFill>
                <a:latin typeface="Georgia"/>
              </a:rPr>
              <a:t>Phase 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729984" y="2889504"/>
            <a:ext cx="2084831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90" b="0">
                <a:solidFill>
                  <a:srgbClr val="4B4B4B"/>
                </a:solidFill>
                <a:latin typeface="Arial"/>
              </a:rPr>
              <a:t>Blocking + canopy for large graphs;
enriched stylometry models</a:t>
            </a:r>
          </a:p>
        </p:txBody>
      </p:sp>
      <p:sp>
        <p:nvSpPr>
          <p:cNvPr id="173" name="Oval 172"/>
          <p:cNvSpPr/>
          <p:nvPr/>
        </p:nvSpPr>
        <p:spPr>
          <a:xfrm>
            <a:off x="6501384" y="3438144"/>
            <a:ext cx="128016" cy="128016"/>
          </a:xfrm>
          <a:prstGeom prst="ellipse">
            <a:avLst/>
          </a:prstGeom>
          <a:solidFill>
            <a:srgbClr val="E7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729984" y="3419856"/>
            <a:ext cx="196596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000000"/>
                </a:solidFill>
                <a:latin typeface="Georgia"/>
              </a:rPr>
              <a:t>Phase 4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729984" y="3621024"/>
            <a:ext cx="2084831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90" b="0">
                <a:solidFill>
                  <a:srgbClr val="4B4B4B"/>
                </a:solidFill>
                <a:latin typeface="Arial"/>
              </a:rPr>
              <a:t>Continuous analyst workflow; agency
SIEM/TIP integration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512064" y="4443984"/>
            <a:ext cx="8092440" cy="310896"/>
          </a:xfrm>
          <a:prstGeom prst="roundRect">
            <a:avLst/>
          </a:prstGeom>
          <a:solidFill>
            <a:srgbClr val="FCE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76656" y="4507992"/>
            <a:ext cx="9875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1">
                <a:solidFill>
                  <a:srgbClr val="000000"/>
                </a:solidFill>
                <a:latin typeface="Arial"/>
              </a:rPr>
              <a:t>Responsible Use: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627632" y="4507992"/>
            <a:ext cx="6784848" cy="173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141414"/>
                </a:solidFill>
                <a:latin typeface="Arial"/>
              </a:rPr>
              <a:t>INTELTRACE produces probabilistic leads only — not proof. All real-world collection must remain fully authorized and legally compliant.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0" y="4837176"/>
            <a:ext cx="9144000" cy="306324"/>
          </a:xfrm>
          <a:prstGeom prst="rect">
            <a:avLst/>
          </a:prstGeom>
          <a:solidFill>
            <a:srgbClr val="00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732520" y="4878324"/>
            <a:ext cx="18288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1600200" y="367754"/>
            <a:ext cx="5806440" cy="278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rimson Text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Research &amp; References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96119" y="774427"/>
            <a:ext cx="8151763" cy="245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INTELTRACE is grounded in established threat intelligence methodology and built against a formally specified government problem statement. All components are original implementations referencing peer-validated techniques.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9"/>
          <p:cNvGraphicFramePr/>
          <p:nvPr/>
        </p:nvGraphicFramePr>
        <p:xfrm>
          <a:off x="496119" y="10915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{E89E1535-0022-471C-8BEA-5039455FB44C}</a:tableStyleId>
              </a:tblPr>
              <a:tblGrid>
                <a:gridCol w="4075875"/>
                <a:gridCol w="4075875"/>
              </a:tblGrid>
              <a:tr h="21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Inter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Reference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775" marB="4775" marR="89150" marL="89150" anchor="ctr">
                    <a:lnL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Inter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Details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775" marB="4775" marR="89150" marL="891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Inter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SIH 2026 Problem Statement 26151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775" marB="4775" marR="89150" marL="89150" anchor="ctr">
                    <a:lnL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Inter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Issued by NTRO — mandating dark web threat actor de-anonymization tooling for national cybersecurity operations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775" marB="4775" marR="89150" marL="891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Inter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Project Codebase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775" marB="4775" marR="89150" marL="89150" anchor="ctr">
                    <a:lnL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Inter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 microservices, synthetic demo dataset, Streamlit dashboard — fully functional end-to-end prototype submitted with hackathon entry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775" marB="4775" marR="89150" marL="891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Inter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Identifier Extraction Methodology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775" marB="4775" marR="89150" marL="89150" anchor="ctr">
                    <a:lnL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Inter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PGP fingerprint parsing • cryptocurrency address regex • email/XMPP handle normalization — canonical resolution across heterogeneous dark web sources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775" marB="4775" marR="89150" marL="891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Inter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Entity Resolution &amp; Link Scoring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775" marB="4775" marR="89150" marL="89150" anchor="ctr">
                    <a:lnL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Inter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Probabilistic record linkage with explainable reason codes; 4-level confidence taxonomy (Confirmed / Probable / Possible / Speculative)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775" marB="4775" marR="89150" marL="891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Inter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Stylometry &amp; Behaviour Analysis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775" marB="4775" marR="89150" marL="89150" anchor="ctr">
                    <a:lnL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Inter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Authorship attribution via writing-style fingerprinting; temporal activity pattern modelling for cross-platform persona linkage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775" marB="4775" marR="89150" marL="891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Inter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Graph Intelligence Layer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775" marB="4775" marR="89150" marL="89150" anchor="ctr">
                    <a:lnL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Inter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NetworkX-based entity–relationship graph; blocking/canopy steps for scalable pairwise comparison; visual network export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775" marB="4775" marR="89150" marL="891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Inter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Reporting &amp; Export Layer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775" marB="4775" marR="89150" marL="89150" anchor="ctr">
                    <a:lnL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Inter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ReportLab PDF reports • CSV &amp; JSON machine-readable exports • STIX-like structured threat intelligence output for SIEM/TIP integration</a:t>
                      </a:r>
                      <a:endParaRPr sz="8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775" marB="4775" marR="89150" marL="891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CB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9"/>
          <p:cNvSpPr/>
          <p:nvPr/>
        </p:nvSpPr>
        <p:spPr>
          <a:xfrm>
            <a:off x="496119" y="3735437"/>
            <a:ext cx="4043809" cy="488082"/>
          </a:xfrm>
          <a:prstGeom prst="roundRect">
            <a:avLst>
              <a:gd fmla="val 7672" name="adj"/>
            </a:avLst>
          </a:prstGeom>
          <a:solidFill>
            <a:srgbClr val="FAE5D1"/>
          </a:solidFill>
          <a:ln cap="flat" cmpd="sng" w="9525">
            <a:solidFill>
              <a:srgbClr val="E0CB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590029" y="3829348"/>
            <a:ext cx="3855988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rimson Text"/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Team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90029" y="4007048"/>
            <a:ext cx="3855988" cy="12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RUN TIME ERRORS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603998" y="3735437"/>
            <a:ext cx="4043883" cy="488082"/>
          </a:xfrm>
          <a:prstGeom prst="roundRect">
            <a:avLst>
              <a:gd fmla="val 7672" name="adj"/>
            </a:avLst>
          </a:prstGeom>
          <a:solidFill>
            <a:srgbClr val="FAE5D1"/>
          </a:solidFill>
          <a:ln cap="flat" cmpd="sng" w="9525">
            <a:solidFill>
              <a:srgbClr val="E0CB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4697909" y="3829348"/>
            <a:ext cx="3856062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rimson Text"/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Problem 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697909" y="4007048"/>
            <a:ext cx="3856062" cy="12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SIH 2026 — #26151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96119" y="4287589"/>
            <a:ext cx="4043809" cy="488082"/>
          </a:xfrm>
          <a:prstGeom prst="roundRect">
            <a:avLst>
              <a:gd fmla="val 7672" name="adj"/>
            </a:avLst>
          </a:prstGeom>
          <a:solidFill>
            <a:srgbClr val="FAE5D1"/>
          </a:solidFill>
          <a:ln cap="flat" cmpd="sng" w="9525">
            <a:solidFill>
              <a:srgbClr val="E0CB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590029" y="4381500"/>
            <a:ext cx="3855988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rimson Text"/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Theme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90029" y="4559201"/>
            <a:ext cx="3855988" cy="12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Blockchain &amp; Cybersecurity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603998" y="4287589"/>
            <a:ext cx="4043883" cy="488082"/>
          </a:xfrm>
          <a:prstGeom prst="roundRect">
            <a:avLst>
              <a:gd fmla="val 7672" name="adj"/>
            </a:avLst>
          </a:prstGeom>
          <a:solidFill>
            <a:srgbClr val="FAE5D1"/>
          </a:solidFill>
          <a:ln cap="flat" cmpd="sng" w="9525">
            <a:solidFill>
              <a:srgbClr val="E0CB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4697909" y="4381500"/>
            <a:ext cx="3856062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Crimson Text"/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Crimson Text"/>
                <a:ea typeface="Crimson Text"/>
                <a:cs typeface="Crimson Text"/>
                <a:sym typeface="Crimson Text"/>
              </a:rPr>
              <a:t>Sponsor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697909" y="4559201"/>
            <a:ext cx="3856062" cy="12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NTRO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Picture 19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73152"/>
            <a:ext cx="1572768" cy="731520"/>
          </a:xfrm>
          <a:prstGeom prst="rect">
            <a:avLst/>
          </a:prstGeom>
        </p:spPr>
      </p:pic>
      <p:sp>
        <p:nvSpPr>
          <p:cNvPr id="197" name="Oval 196"/>
          <p:cNvSpPr/>
          <p:nvPr/>
        </p:nvSpPr>
        <p:spPr>
          <a:xfrm>
            <a:off x="274320" y="109728"/>
            <a:ext cx="1115568" cy="566928"/>
          </a:xfrm>
          <a:prstGeom prst="ellipse">
            <a:avLst/>
          </a:prstGeom>
          <a:noFill/>
          <a:ln w="22860">
            <a:solidFill>
              <a:srgbClr val="896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" rIns="12700" tIns="0" bIns="0"/>
          <a:lstStyle/>
          <a:p>
            <a:pPr algn="ctr">
              <a:defRPr sz="1050">
                <a:solidFill>
                  <a:srgbClr val="000000"/>
                </a:solidFill>
                <a:latin typeface="Times New Roman"/>
              </a:defRPr>
            </a:pPr>
            <a:r>
              <a:t>RUNTIME ERRORS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0" y="4750308"/>
            <a:ext cx="9144000" cy="393192"/>
          </a:xfrm>
          <a:prstGeom prst="rect">
            <a:avLst/>
          </a:prstGeom>
          <a:solidFill>
            <a:srgbClr val="08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613648" y="4814316"/>
            <a:ext cx="2286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